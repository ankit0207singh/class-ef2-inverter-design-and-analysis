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Canva Sans Bold" charset="1" panose="020B0803030501040103"/>
      <p:regular r:id="rId28"/>
    </p:embeddedFont>
    <p:embeddedFont>
      <p:font typeface="Canva Sans" charset="1" panose="020B0503030501040103"/>
      <p:regular r:id="rId29"/>
    </p:embeddedFont>
    <p:embeddedFont>
      <p:font typeface="Droid Serif Bold" charset="1" panose="020208000605000202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 flipV="true">
            <a:off x="1028720" y="2186817"/>
            <a:ext cx="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470898" y="3405523"/>
            <a:ext cx="3346203" cy="3475954"/>
          </a:xfrm>
          <a:custGeom>
            <a:avLst/>
            <a:gdLst/>
            <a:ahLst/>
            <a:cxnLst/>
            <a:rect r="r" b="b" t="t" l="l"/>
            <a:pathLst>
              <a:path h="3475954" w="3346203">
                <a:moveTo>
                  <a:pt x="0" y="0"/>
                </a:moveTo>
                <a:lnTo>
                  <a:pt x="3346204" y="0"/>
                </a:lnTo>
                <a:lnTo>
                  <a:pt x="3346204" y="3475954"/>
                </a:lnTo>
                <a:lnTo>
                  <a:pt x="0" y="3475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74135" y="914400"/>
            <a:ext cx="14939730" cy="970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4"/>
              </a:lnSpc>
            </a:pPr>
            <a:r>
              <a:rPr lang="en-US" b="true" sz="5667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 and Analysis of Class EF2 Inverter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8136" y="7060864"/>
            <a:ext cx="690276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Under the supervision of </a:t>
            </a:r>
            <a:r>
              <a:rPr lang="en-US" sz="4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1082" y="7928436"/>
            <a:ext cx="8377056" cy="1216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Prof. Rajeev Kumar Singh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Department of Electrical Engineering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27273" y="7152939"/>
            <a:ext cx="3760407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27273" y="7937961"/>
            <a:ext cx="4016567" cy="464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sz="27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Ankit Singh(23084003)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23925"/>
            <a:ext cx="7926343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3131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Outline of Presentation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44977"/>
            <a:ext cx="13144977" cy="5945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5657" indent="-407828" lvl="1">
              <a:lnSpc>
                <a:spcPts val="7971"/>
              </a:lnSpc>
              <a:buFont typeface="Arial"/>
              <a:buChar char="•"/>
            </a:pPr>
            <a:r>
              <a:rPr lang="en-US" b="true" sz="3777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  <a:p>
            <a:pPr algn="l" marL="815657" indent="-407828" lvl="1">
              <a:lnSpc>
                <a:spcPts val="7971"/>
              </a:lnSpc>
              <a:buFont typeface="Arial"/>
              <a:buChar char="•"/>
            </a:pPr>
            <a:r>
              <a:rPr lang="en-US" b="true" sz="3777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 EF2 INVERTER: OVERVIEW</a:t>
            </a:r>
          </a:p>
          <a:p>
            <a:pPr algn="just" marL="815657" indent="-407828" lvl="1">
              <a:lnSpc>
                <a:spcPts val="7971"/>
              </a:lnSpc>
              <a:buFont typeface="Arial"/>
              <a:buChar char="•"/>
            </a:pPr>
            <a:r>
              <a:rPr lang="en-US" b="true" sz="3777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CIRCUIT COMPONENTS AND OPERATION</a:t>
            </a:r>
          </a:p>
          <a:p>
            <a:pPr algn="just" marL="815657" indent="-407828" lvl="1">
              <a:lnSpc>
                <a:spcPts val="7971"/>
              </a:lnSpc>
              <a:buFont typeface="Arial"/>
              <a:buChar char="•"/>
            </a:pPr>
            <a:r>
              <a:rPr lang="en-US" b="true" sz="3777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MATHEMATICAL ANALYSIS AND DESIGN EQUATIONS</a:t>
            </a:r>
          </a:p>
          <a:p>
            <a:pPr algn="just" marL="815657" indent="-407828" lvl="1">
              <a:lnSpc>
                <a:spcPts val="7971"/>
              </a:lnSpc>
              <a:buFont typeface="Arial"/>
              <a:buChar char="•"/>
            </a:pPr>
            <a:r>
              <a:rPr lang="en-US" b="true" sz="3777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SIMULATION RESULTS</a:t>
            </a:r>
          </a:p>
          <a:p>
            <a:pPr algn="just" marL="815657" indent="-407828" lvl="1">
              <a:lnSpc>
                <a:spcPts val="7971"/>
              </a:lnSpc>
              <a:buFont typeface="Arial"/>
              <a:buChar char="•"/>
            </a:pPr>
            <a:r>
              <a:rPr lang="en-US" b="true" sz="3777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26"/>
            <a:ext cx="385530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3131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69459"/>
            <a:ext cx="12892117" cy="805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9010" indent="-294505" lvl="1">
              <a:lnSpc>
                <a:spcPts val="5347"/>
              </a:lnSpc>
              <a:buFont typeface="Arial"/>
              <a:buChar char="•"/>
            </a:pPr>
            <a:r>
              <a:rPr lang="en-US" b="true" sz="2728" spc="6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increasing </a:t>
            </a:r>
            <a:r>
              <a:rPr lang="en-US" b="true" sz="2728" spc="6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demand for energy-efficient power electron ics has driven research into high-frequency inverter topologies for applications such as wireless power transfer (WPT), radio frequency (RF) systems, and resonant DC–DC converters. </a:t>
            </a:r>
          </a:p>
          <a:p>
            <a:pPr algn="just" marL="589010" indent="-294505" lvl="1">
              <a:lnSpc>
                <a:spcPts val="5347"/>
              </a:lnSpc>
              <a:buFont typeface="Arial"/>
              <a:buChar char="•"/>
            </a:pPr>
            <a:r>
              <a:rPr lang="en-US" b="true" sz="2728" spc="6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These applications require inverters that can operate at high frequencies with low switching losses, reduced component stress, and high efficiency. </a:t>
            </a:r>
          </a:p>
          <a:p>
            <a:pPr algn="just" marL="589010" indent="-294505" lvl="1">
              <a:lnSpc>
                <a:spcPts val="5347"/>
              </a:lnSpc>
              <a:buFont typeface="Arial"/>
              <a:buChar char="•"/>
            </a:pPr>
            <a:r>
              <a:rPr lang="en-US" b="true" sz="2728" spc="6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Conventional inverter topologies such as Class D, Class E, and Class F are widely used. Class D suffers from high switching losses due to hard switching. Class E enables zero voltage switching (ZVS) but experiences high peak voltage stress.</a:t>
            </a:r>
          </a:p>
          <a:p>
            <a:pPr algn="just">
              <a:lnSpc>
                <a:spcPts val="5347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311769"/>
            <a:ext cx="12892117" cy="3297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9011" indent="-294505" lvl="1">
              <a:lnSpc>
                <a:spcPts val="5347"/>
              </a:lnSpc>
              <a:buFont typeface="Arial"/>
              <a:buChar char="•"/>
            </a:pPr>
            <a:r>
              <a:rPr lang="en-US" b="true" sz="2728" spc="6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728" spc="6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 F reduces switching losses using harmonic tuning but increases design complexity.</a:t>
            </a:r>
          </a:p>
          <a:p>
            <a:pPr algn="l" marL="589011" indent="-294505" lvl="1">
              <a:lnSpc>
                <a:spcPts val="5347"/>
              </a:lnSpc>
              <a:buFont typeface="Arial"/>
              <a:buChar char="•"/>
            </a:pPr>
            <a:r>
              <a:rPr lang="en-US" b="true" sz="2728" spc="6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 a</a:t>
            </a:r>
            <a:r>
              <a:rPr lang="en-US" b="true" sz="2728" spc="6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ddress these challenges, t</a:t>
            </a:r>
            <a:r>
              <a:rPr lang="en-US" b="true" sz="2728" spc="6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 Class EF2 inverter incor porates a second-harmonic resonant network into the Class E structure, achieving improved efficiency and reduced device stress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39726"/>
            <a:ext cx="385530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3131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Introduction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3473" y="339726"/>
            <a:ext cx="9276261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3131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CLASS EF2 INVERTER: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3473" y="158751"/>
            <a:ext cx="12153522" cy="812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3"/>
              </a:lnSpc>
            </a:pPr>
          </a:p>
          <a:p>
            <a:pPr algn="l" marL="968411" indent="-484205" lvl="1">
              <a:lnSpc>
                <a:spcPts val="8163"/>
              </a:lnSpc>
              <a:buFont typeface="Arial"/>
              <a:buChar char="•"/>
            </a:pPr>
            <a:r>
              <a:rPr lang="en-US" sz="4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Combines features of Class E and Class F</a:t>
            </a:r>
          </a:p>
          <a:p>
            <a:pPr algn="l" marL="968411" indent="-484205" lvl="1">
              <a:lnSpc>
                <a:spcPts val="8163"/>
              </a:lnSpc>
              <a:buFont typeface="Arial"/>
              <a:buChar char="•"/>
            </a:pPr>
            <a:r>
              <a:rPr lang="en-US" sz="4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Maintains Zero Voltage Switching (ZVS)</a:t>
            </a:r>
          </a:p>
          <a:p>
            <a:pPr algn="l" marL="968411" indent="-484205" lvl="1">
              <a:lnSpc>
                <a:spcPts val="8163"/>
              </a:lnSpc>
              <a:buFont typeface="Arial"/>
              <a:buChar char="•"/>
            </a:pPr>
            <a:r>
              <a:rPr lang="en-US" sz="4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second-harmonic tuning</a:t>
            </a:r>
          </a:p>
          <a:p>
            <a:pPr algn="l" marL="968411" indent="-484205" lvl="1">
              <a:lnSpc>
                <a:spcPts val="8163"/>
              </a:lnSpc>
              <a:buFont typeface="Arial"/>
              <a:buChar char="•"/>
            </a:pPr>
            <a:r>
              <a:rPr lang="en-US" sz="4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Shapes drain voltage waveform</a:t>
            </a:r>
          </a:p>
          <a:p>
            <a:pPr algn="l" marL="968411" indent="-484205" lvl="1">
              <a:lnSpc>
                <a:spcPts val="8163"/>
              </a:lnSpc>
              <a:buFont typeface="Arial"/>
              <a:buChar char="•"/>
            </a:pPr>
            <a:r>
              <a:rPr lang="en-US" sz="4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Reduces peak switch voltage</a:t>
            </a:r>
          </a:p>
          <a:p>
            <a:pPr algn="l" marL="968411" indent="-484205" lvl="1">
              <a:lnSpc>
                <a:spcPts val="8163"/>
              </a:lnSpc>
              <a:buFont typeface="Arial"/>
              <a:buChar char="•"/>
            </a:pPr>
            <a:r>
              <a:rPr lang="en-US" sz="4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Peak voltage reduced to ~2–3 Vdd</a:t>
            </a:r>
          </a:p>
          <a:p>
            <a:pPr algn="l" marL="968411" indent="-484205" lvl="1">
              <a:lnSpc>
                <a:spcPts val="8163"/>
              </a:lnSpc>
              <a:buFont typeface="Arial"/>
              <a:buChar char="•"/>
            </a:pPr>
            <a:r>
              <a:rPr lang="en-US" sz="4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Lower than Class E (~3.56 Vdd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19046" y="0"/>
            <a:ext cx="14649908" cy="8862377"/>
          </a:xfrm>
          <a:custGeom>
            <a:avLst/>
            <a:gdLst/>
            <a:ahLst/>
            <a:cxnLst/>
            <a:rect r="r" b="b" t="t" l="l"/>
            <a:pathLst>
              <a:path h="8862377" w="14649908">
                <a:moveTo>
                  <a:pt x="0" y="0"/>
                </a:moveTo>
                <a:lnTo>
                  <a:pt x="14649908" y="0"/>
                </a:lnTo>
                <a:lnTo>
                  <a:pt x="14649908" y="8862377"/>
                </a:lnTo>
                <a:lnTo>
                  <a:pt x="0" y="88623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525" r="0" b="-752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51775" y="8899296"/>
            <a:ext cx="1178444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Circuit Diagram of Class EF2 Inverter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88925"/>
            <a:ext cx="11336103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3131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CIRCUIT COMPONENTS AND OPERATION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9952" y="107950"/>
            <a:ext cx="17108095" cy="459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3"/>
              </a:lnSpc>
            </a:pPr>
          </a:p>
          <a:p>
            <a:pPr algn="l" marL="968410" indent="-484205" lvl="1">
              <a:lnSpc>
                <a:spcPts val="8163"/>
              </a:lnSpc>
              <a:buAutoNum type="arabicPeriod" startAt="1"/>
            </a:pPr>
            <a:r>
              <a:rPr lang="en-US" b="true" sz="44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44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 Supply and Feed Inductor (Lchoke):</a:t>
            </a:r>
          </a:p>
          <a:p>
            <a:pPr algn="l">
              <a:lnSpc>
                <a:spcPts val="6343"/>
              </a:lnSpc>
            </a:pPr>
            <a:r>
              <a:rPr lang="en-US" sz="3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large RF choke connects the DC supply VDD to the drain. It provides high impedance at switching frequency, ensuring nearly constant current</a:t>
            </a:r>
          </a:p>
          <a:p>
            <a:pPr algn="l">
              <a:lnSpc>
                <a:spcPts val="816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89952" y="3862304"/>
            <a:ext cx="17108095" cy="299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8410" indent="-484205" lvl="1">
              <a:lnSpc>
                <a:spcPts val="8163"/>
              </a:lnSpc>
              <a:buAutoNum type="arabicPeriod" startAt="1"/>
            </a:pPr>
            <a:r>
              <a:rPr lang="en-US" b="true" sz="44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Switching Device:</a:t>
            </a:r>
          </a:p>
          <a:p>
            <a:pPr algn="l">
              <a:lnSpc>
                <a:spcPts val="8163"/>
              </a:lnSpc>
            </a:pPr>
            <a:r>
              <a:rPr lang="en-US" sz="4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MOSFET or GaN HEMT operates as a switch driven at frequency f0 with duty cycle D ≈ 0.4–0.5.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9952" y="6992849"/>
            <a:ext cx="17108095" cy="299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3"/>
              </a:lnSpc>
            </a:pPr>
            <a:r>
              <a:rPr lang="en-US" sz="4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48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3.Shunt Capacitance (Cs): </a:t>
            </a:r>
          </a:p>
          <a:p>
            <a:pPr algn="l">
              <a:lnSpc>
                <a:spcPts val="8163"/>
              </a:lnSpc>
            </a:pPr>
            <a:r>
              <a:rPr lang="en-US" sz="4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includes</a:t>
            </a:r>
            <a:r>
              <a:rPr lang="en-US" sz="4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intrinsic capacitance Coss and shapes the voltage waveform, enabling ZVS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1307" y="339726"/>
            <a:ext cx="11336103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3131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CIRCUIT COMPONENTS AND OPERATION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9952" y="1650544"/>
            <a:ext cx="17108095" cy="299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8410" indent="-484205" lvl="1">
              <a:lnSpc>
                <a:spcPts val="8163"/>
              </a:lnSpc>
              <a:buAutoNum type="arabicPeriod" startAt="1"/>
            </a:pPr>
            <a:r>
              <a:rPr lang="en-US" b="true" sz="44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Second Harmonic Tank (L2 −C2):</a:t>
            </a:r>
          </a:p>
          <a:p>
            <a:pPr algn="l">
              <a:lnSpc>
                <a:spcPts val="8163"/>
              </a:lnSpc>
            </a:pPr>
            <a:r>
              <a:rPr lang="en-US" sz="4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This parallel resonant circuit is tuned to 2f0 and blocks second harmonic current, modifying the voltage waveform.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9952" y="4876800"/>
            <a:ext cx="17108095" cy="299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3"/>
              </a:lnSpc>
            </a:pPr>
            <a:r>
              <a:rPr lang="en-US" sz="448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5. Load Network (Lr −Cr −RL): </a:t>
            </a:r>
          </a:p>
          <a:p>
            <a:pPr algn="l">
              <a:lnSpc>
                <a:spcPts val="8163"/>
              </a:lnSpc>
            </a:pPr>
            <a:r>
              <a:rPr lang="en-US" sz="4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4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series resonant</a:t>
            </a:r>
            <a:r>
              <a:rPr lang="en-US" sz="4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network tuned to f0 ensures sinusoidal current delivery to the load.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1205" y="339726"/>
            <a:ext cx="10366867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3131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OPERATION OF CLASS EF2 INVERTER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1205" y="1650544"/>
            <a:ext cx="17108095" cy="299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3"/>
              </a:lnSpc>
            </a:pPr>
            <a:r>
              <a:rPr lang="en-US" sz="4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48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On-State (0 ≤ ωt &lt; 2πD) </a:t>
            </a:r>
          </a:p>
          <a:p>
            <a:pPr algn="l">
              <a:lnSpc>
                <a:spcPts val="8163"/>
              </a:lnSpc>
            </a:pPr>
            <a:r>
              <a:rPr lang="en-US" sz="4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transistor conducts and vDS ≈ 0. Current flows through the switch.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205" y="4876800"/>
            <a:ext cx="17108095" cy="299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3"/>
              </a:lnSpc>
            </a:pPr>
            <a:r>
              <a:rPr lang="en-US" sz="4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48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Off-State(2πD≤ωt&lt;2π) </a:t>
            </a:r>
            <a:r>
              <a:rPr lang="en-US" sz="4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switch is off,and th</a:t>
            </a:r>
            <a:r>
              <a:rPr lang="en-US" sz="4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choke current charges the capacitance.The drain voltage rises and returns smoothly to zero.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773" y="342704"/>
            <a:ext cx="12305339" cy="8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 b="true">
                <a:solidFill>
                  <a:srgbClr val="FF3131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ROLE OF SECOND HARMONIC TANK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1307" y="1642380"/>
            <a:ext cx="17108095" cy="5057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3"/>
              </a:lnSpc>
            </a:pPr>
            <a:r>
              <a:rPr lang="en-US" sz="4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second-harmonic tank is tuned to:</a:t>
            </a:r>
          </a:p>
          <a:p>
            <a:pPr algn="l">
              <a:lnSpc>
                <a:spcPts val="8163"/>
              </a:lnSpc>
            </a:pPr>
            <a:r>
              <a:rPr lang="en-US" sz="4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    f0=2f0</a:t>
            </a:r>
          </a:p>
          <a:p>
            <a:pPr algn="l">
              <a:lnSpc>
                <a:spcPts val="8163"/>
              </a:lnSpc>
            </a:pPr>
            <a:r>
              <a:rPr lang="en-US" sz="4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confines second harmonic current and shapes the drain voltage waveform, reducing peak voltage. This reduces voltage stress from3.56VDD (Class E) to approximately2–3VDD.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963" y="3904864"/>
            <a:ext cx="17173337" cy="2334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43"/>
              </a:lnSpc>
            </a:pPr>
            <a:r>
              <a:rPr lang="en-US" sz="6673" b="true">
                <a:solidFill>
                  <a:srgbClr val="FF3131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MATHEMATICAL ANALYSIS AND DESIGN EQUATIONS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2146" y="1774427"/>
            <a:ext cx="17545854" cy="6732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67"/>
              </a:lnSpc>
            </a:pPr>
            <a:r>
              <a:rPr lang="en-US" sz="42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1) The switching </a:t>
            </a:r>
            <a:r>
              <a:rPr lang="en-US" sz="42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device operates as an ideal switch with zero on-resistance and infinite off-resistance.</a:t>
            </a:r>
          </a:p>
          <a:p>
            <a:pPr algn="l">
              <a:lnSpc>
                <a:spcPts val="5967"/>
              </a:lnSpc>
            </a:pPr>
            <a:r>
              <a:rPr lang="en-US" sz="42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2) The DC feed inductance L choke is sufficiently large so that the supply current Iin remains constant over a switching cycle.</a:t>
            </a:r>
          </a:p>
          <a:p>
            <a:pPr algn="l">
              <a:lnSpc>
                <a:spcPts val="5967"/>
              </a:lnSpc>
            </a:pPr>
            <a:r>
              <a:rPr lang="en-US" sz="42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3) The series load network(Lr–Cr–RL) has a high quality factor, ensuring sinusoidal output current at the fundamental frequency. </a:t>
            </a:r>
          </a:p>
          <a:p>
            <a:pPr algn="l">
              <a:lnSpc>
                <a:spcPts val="5967"/>
              </a:lnSpc>
            </a:pPr>
            <a:r>
              <a:rPr lang="en-US" sz="42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4) The shunt capacitance Cs is linear and constant, representing the transistor output capacitance.</a:t>
            </a:r>
          </a:p>
          <a:p>
            <a:pPr algn="l">
              <a:lnSpc>
                <a:spcPts val="5967"/>
              </a:lnSpc>
            </a:pPr>
            <a:r>
              <a:rPr lang="en-US" sz="42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5) All passive components are assumed lossless.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4753" y="537527"/>
            <a:ext cx="490121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Assumption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52155" y="1981064"/>
            <a:ext cx="6583690" cy="6324872"/>
          </a:xfrm>
          <a:custGeom>
            <a:avLst/>
            <a:gdLst/>
            <a:ahLst/>
            <a:cxnLst/>
            <a:rect r="r" b="b" t="t" l="l"/>
            <a:pathLst>
              <a:path h="6324872" w="6583690">
                <a:moveTo>
                  <a:pt x="0" y="0"/>
                </a:moveTo>
                <a:lnTo>
                  <a:pt x="6583690" y="0"/>
                </a:lnTo>
                <a:lnTo>
                  <a:pt x="6583690" y="6324872"/>
                </a:lnTo>
                <a:lnTo>
                  <a:pt x="0" y="6324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83788" y="0"/>
            <a:ext cx="10707951" cy="10287000"/>
          </a:xfrm>
          <a:custGeom>
            <a:avLst/>
            <a:gdLst/>
            <a:ahLst/>
            <a:cxnLst/>
            <a:rect r="r" b="b" t="t" l="l"/>
            <a:pathLst>
              <a:path h="10287000" w="10707951">
                <a:moveTo>
                  <a:pt x="0" y="0"/>
                </a:moveTo>
                <a:lnTo>
                  <a:pt x="10707951" y="0"/>
                </a:lnTo>
                <a:lnTo>
                  <a:pt x="1070795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83624" y="1338780"/>
            <a:ext cx="13320752" cy="6037248"/>
          </a:xfrm>
          <a:custGeom>
            <a:avLst/>
            <a:gdLst/>
            <a:ahLst/>
            <a:cxnLst/>
            <a:rect r="r" b="b" t="t" l="l"/>
            <a:pathLst>
              <a:path h="6037248" w="13320752">
                <a:moveTo>
                  <a:pt x="0" y="0"/>
                </a:moveTo>
                <a:lnTo>
                  <a:pt x="13320752" y="0"/>
                </a:lnTo>
                <a:lnTo>
                  <a:pt x="13320752" y="6037248"/>
                </a:lnTo>
                <a:lnTo>
                  <a:pt x="0" y="60372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94331" y="7938651"/>
            <a:ext cx="14899339" cy="150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PSIM-based simulation model of the designed Class EF2 inverter using calculated component values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10660" y="361396"/>
            <a:ext cx="12096698" cy="7893377"/>
            <a:chOff x="0" y="0"/>
            <a:chExt cx="16128931" cy="105245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128931" cy="8304766"/>
            </a:xfrm>
            <a:custGeom>
              <a:avLst/>
              <a:gdLst/>
              <a:ahLst/>
              <a:cxnLst/>
              <a:rect r="r" b="b" t="t" l="l"/>
              <a:pathLst>
                <a:path h="8304766" w="16128931">
                  <a:moveTo>
                    <a:pt x="0" y="0"/>
                  </a:moveTo>
                  <a:lnTo>
                    <a:pt x="16128931" y="0"/>
                  </a:lnTo>
                  <a:lnTo>
                    <a:pt x="16128931" y="8304766"/>
                  </a:lnTo>
                  <a:lnTo>
                    <a:pt x="0" y="8304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7885223"/>
              <a:ext cx="16128931" cy="2639280"/>
            </a:xfrm>
            <a:custGeom>
              <a:avLst/>
              <a:gdLst/>
              <a:ahLst/>
              <a:cxnLst/>
              <a:rect r="r" b="b" t="t" l="l"/>
              <a:pathLst>
                <a:path h="2639280" w="16128931">
                  <a:moveTo>
                    <a:pt x="0" y="0"/>
                  </a:moveTo>
                  <a:lnTo>
                    <a:pt x="16128931" y="0"/>
                  </a:lnTo>
                  <a:lnTo>
                    <a:pt x="16128931" y="2639280"/>
                  </a:lnTo>
                  <a:lnTo>
                    <a:pt x="0" y="2639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670008" y="8710044"/>
            <a:ext cx="11359671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deatils of Elements used in simulation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7512" y="4009779"/>
            <a:ext cx="15746298" cy="1738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30"/>
              </a:lnSpc>
            </a:pPr>
            <a:r>
              <a:rPr lang="en-US" sz="10093" b="true">
                <a:solidFill>
                  <a:srgbClr val="FF3131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SIMULATION RESULTS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2134" y="268032"/>
            <a:ext cx="17899986" cy="8030343"/>
          </a:xfrm>
          <a:custGeom>
            <a:avLst/>
            <a:gdLst/>
            <a:ahLst/>
            <a:cxnLst/>
            <a:rect r="r" b="b" t="t" l="l"/>
            <a:pathLst>
              <a:path h="8030343" w="17899986">
                <a:moveTo>
                  <a:pt x="0" y="0"/>
                </a:moveTo>
                <a:lnTo>
                  <a:pt x="17899987" y="0"/>
                </a:lnTo>
                <a:lnTo>
                  <a:pt x="17899987" y="8030343"/>
                </a:lnTo>
                <a:lnTo>
                  <a:pt x="0" y="8030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63744" y="8525402"/>
            <a:ext cx="1076051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 Waveform of Vsw and Isw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1578" y="98993"/>
            <a:ext cx="17706422" cy="9290758"/>
          </a:xfrm>
          <a:custGeom>
            <a:avLst/>
            <a:gdLst/>
            <a:ahLst/>
            <a:cxnLst/>
            <a:rect r="r" b="b" t="t" l="l"/>
            <a:pathLst>
              <a:path h="9290758" w="17706422">
                <a:moveTo>
                  <a:pt x="0" y="0"/>
                </a:moveTo>
                <a:lnTo>
                  <a:pt x="17706422" y="0"/>
                </a:lnTo>
                <a:lnTo>
                  <a:pt x="17706422" y="9290758"/>
                </a:lnTo>
                <a:lnTo>
                  <a:pt x="0" y="9290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77" t="0" r="-2277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30087" y="9294501"/>
            <a:ext cx="140278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 Voltage  Waveform  across the load 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8660" y="1028700"/>
            <a:ext cx="17828122" cy="6854808"/>
          </a:xfrm>
          <a:custGeom>
            <a:avLst/>
            <a:gdLst/>
            <a:ahLst/>
            <a:cxnLst/>
            <a:rect r="r" b="b" t="t" l="l"/>
            <a:pathLst>
              <a:path h="6854808" w="17828122">
                <a:moveTo>
                  <a:pt x="0" y="0"/>
                </a:moveTo>
                <a:lnTo>
                  <a:pt x="17828122" y="0"/>
                </a:lnTo>
                <a:lnTo>
                  <a:pt x="17828122" y="6854808"/>
                </a:lnTo>
                <a:lnTo>
                  <a:pt x="0" y="68548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84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92709" y="8189684"/>
            <a:ext cx="1590258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INVERTER POWER PROCESSING AND DC OUTPUT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6570" y="328619"/>
            <a:ext cx="17834859" cy="8117027"/>
          </a:xfrm>
          <a:custGeom>
            <a:avLst/>
            <a:gdLst/>
            <a:ahLst/>
            <a:cxnLst/>
            <a:rect r="r" b="b" t="t" l="l"/>
            <a:pathLst>
              <a:path h="8117027" w="17834859">
                <a:moveTo>
                  <a:pt x="0" y="0"/>
                </a:moveTo>
                <a:lnTo>
                  <a:pt x="17834860" y="0"/>
                </a:lnTo>
                <a:lnTo>
                  <a:pt x="17834860" y="8117027"/>
                </a:lnTo>
                <a:lnTo>
                  <a:pt x="0" y="8117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64101" y="8371205"/>
            <a:ext cx="695979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DC VOLTAGE OUTPUT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2734" y="352361"/>
            <a:ext cx="3933903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3131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3011" y="1624966"/>
            <a:ext cx="17494989" cy="763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8" indent="-388624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this work, a Class EF2 inverter was successfully de signed, analyzed, and simulated. </a:t>
            </a:r>
          </a:p>
          <a:p>
            <a:pPr algn="l" marL="777248" indent="-388624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mathematical modeling provided a clear understanding of the operating principles and enabled accurate determination of component values. </a:t>
            </a:r>
          </a:p>
          <a:p>
            <a:pPr algn="l" marL="777248" indent="-388624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simulation results verified the theoretical analysis, demonstrating proper inverter operation and desired waveform characteristics. </a:t>
            </a:r>
          </a:p>
          <a:p>
            <a:pPr algn="l" marL="777248" indent="-388624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</a:t>
            </a: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ddition of a transformer and rectifier stage further validated the practical applicability of the system by producing a steady DC output across the load. Overall, the Class EF2 inverter offers improved performance in terms of efficiency and reduced switching stress, making it a suitable choice for high-frequency power conversion applications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88949" y="3769016"/>
            <a:ext cx="11310101" cy="24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79"/>
              </a:lnSpc>
            </a:pPr>
            <a:r>
              <a:rPr lang="en-US" sz="14485" b="tru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Thank You!!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DAHHtZ2paAo</dc:identifier>
  <dcterms:modified xsi:type="dcterms:W3CDTF">2011-08-01T06:04:30Z</dcterms:modified>
  <cp:revision>1</cp:revision>
  <dc:title>Design and Analysis of Class EF2 Inverter</dc:title>
</cp:coreProperties>
</file>